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63" r:id="rId2"/>
    <p:sldId id="272" r:id="rId3"/>
    <p:sldId id="273" r:id="rId4"/>
    <p:sldId id="274" r:id="rId5"/>
    <p:sldId id="257" r:id="rId6"/>
    <p:sldId id="258" r:id="rId7"/>
    <p:sldId id="259" r:id="rId8"/>
    <p:sldId id="260" r:id="rId9"/>
    <p:sldId id="261" r:id="rId10"/>
    <p:sldId id="264" r:id="rId11"/>
    <p:sldId id="265" r:id="rId12"/>
    <p:sldId id="268" r:id="rId13"/>
    <p:sldId id="262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7" autoAdjust="0"/>
    <p:restoredTop sz="94654"/>
  </p:normalViewPr>
  <p:slideViewPr>
    <p:cSldViewPr snapToGrid="0">
      <p:cViewPr varScale="1">
        <p:scale>
          <a:sx n="89" d="100"/>
          <a:sy n="89" d="100"/>
        </p:scale>
        <p:origin x="18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E07A3-62E6-8646-9E49-53F04F5F1BC8}" type="datetimeFigureOut">
              <a:rPr lang="en-US" smtClean="0"/>
              <a:t>12/17/2018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92183-7FFF-D048-91C1-C04B63E52A9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26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1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34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21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8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910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86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225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9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46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631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998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7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92183-7FFF-D048-91C1-C04B63E52A9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83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23977" y="4563876"/>
            <a:ext cx="11542457" cy="1673412"/>
          </a:xfrm>
          <a:solidFill>
            <a:schemeClr val="accent1"/>
          </a:solidFill>
        </p:spPr>
        <p:txBody>
          <a:bodyPr lIns="144000" tIns="108000" bIns="0" anchor="t" anchorCtr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23977" y="3429000"/>
            <a:ext cx="11542457" cy="1152128"/>
          </a:xfrm>
          <a:solidFill>
            <a:schemeClr val="accent1"/>
          </a:solidFill>
        </p:spPr>
        <p:txBody>
          <a:bodyPr wrap="square" lIns="144000" tIns="72000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/>
          </p:nvPr>
        </p:nvSpPr>
        <p:spPr>
          <a:xfrm>
            <a:off x="323977" y="619200"/>
            <a:ext cx="11542458" cy="28098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>
                <a:solidFill>
                  <a:prstClr val="black"/>
                </a:solidFill>
              </a:rPr>
              <a:t>BIOTS 2018</a:t>
            </a:r>
          </a:p>
        </p:txBody>
      </p:sp>
    </p:spTree>
    <p:extLst>
      <p:ext uri="{BB962C8B-B14F-4D97-AF65-F5344CB8AC3E}">
        <p14:creationId xmlns:p14="http://schemas.microsoft.com/office/powerpoint/2010/main" val="145275816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23977" y="4823307"/>
            <a:ext cx="11542458" cy="1013969"/>
          </a:xfrm>
          <a:solidFill>
            <a:schemeClr val="accent1"/>
          </a:solidFill>
        </p:spPr>
        <p:txBody>
          <a:bodyPr wrap="square" lIns="144000" tIns="108000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23977" y="5809755"/>
            <a:ext cx="11542458" cy="427535"/>
          </a:xfrm>
          <a:solidFill>
            <a:schemeClr val="accent1"/>
          </a:solidFill>
        </p:spPr>
        <p:txBody>
          <a:bodyPr lIns="144000" bIns="10800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 hasCustomPrompt="1"/>
          </p:nvPr>
        </p:nvSpPr>
        <p:spPr>
          <a:xfrm>
            <a:off x="323977" y="620713"/>
            <a:ext cx="11542458" cy="4204512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a picture by dragging it onto the icon or by clicking on the icon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>
                <a:solidFill>
                  <a:prstClr val="black"/>
                </a:solidFill>
              </a:rPr>
              <a:t>BIOTS 2018</a:t>
            </a:r>
          </a:p>
        </p:txBody>
      </p:sp>
    </p:spTree>
    <p:extLst>
      <p:ext uri="{BB962C8B-B14F-4D97-AF65-F5344CB8AC3E}">
        <p14:creationId xmlns:p14="http://schemas.microsoft.com/office/powerpoint/2010/main" val="169464400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23977" y="4823307"/>
            <a:ext cx="11542458" cy="1013969"/>
          </a:xfrm>
          <a:noFill/>
        </p:spPr>
        <p:txBody>
          <a:bodyPr wrap="square" lIns="144000" tIns="108000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23977" y="5809755"/>
            <a:ext cx="11542458" cy="427535"/>
          </a:xfrm>
          <a:noFill/>
        </p:spPr>
        <p:txBody>
          <a:bodyPr lIns="144000" bIns="10800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 hasCustomPrompt="1"/>
          </p:nvPr>
        </p:nvSpPr>
        <p:spPr>
          <a:xfrm>
            <a:off x="323977" y="620715"/>
            <a:ext cx="11542458" cy="4204513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a picture by dragging it onto the icon or by clicking on the icon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>
                <a:solidFill>
                  <a:prstClr val="black"/>
                </a:solidFill>
              </a:rPr>
              <a:t>BIOTS 2018</a:t>
            </a:r>
          </a:p>
        </p:txBody>
      </p:sp>
    </p:spTree>
    <p:extLst>
      <p:ext uri="{BB962C8B-B14F-4D97-AF65-F5344CB8AC3E}">
        <p14:creationId xmlns:p14="http://schemas.microsoft.com/office/powerpoint/2010/main" val="952177075"/>
      </p:ext>
    </p:extLst>
  </p:cSld>
  <p:clrMapOvr>
    <a:masterClrMapping/>
  </p:clrMapOvr>
  <p:transition>
    <p:fade/>
  </p:transition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D (Hintergrundbild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Bild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auf das Symbol </a:t>
            </a:r>
            <a:r>
              <a:rPr lang="en-GB" dirty="0" err="1"/>
              <a:t>hinzufügen</a:t>
            </a:r>
            <a:r>
              <a:rPr lang="en-GB" dirty="0"/>
              <a:t> und in den </a:t>
            </a:r>
            <a:r>
              <a:rPr lang="en-GB" dirty="0" err="1"/>
              <a:t>Hintergrund</a:t>
            </a:r>
            <a:r>
              <a:rPr lang="en-GB" dirty="0"/>
              <a:t> </a:t>
            </a:r>
            <a:r>
              <a:rPr lang="en-GB" dirty="0" err="1"/>
              <a:t>stellen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23976" y="1044001"/>
            <a:ext cx="11542459" cy="980062"/>
          </a:xfrm>
          <a:solidFill>
            <a:schemeClr val="bg1"/>
          </a:solidFill>
        </p:spPr>
        <p:txBody>
          <a:bodyPr wrap="square" lIns="144000" tIns="0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GB" dirty="0"/>
              <a:t>Add title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144520" y="152402"/>
            <a:ext cx="11902608" cy="612775"/>
            <a:chOff x="144463" y="152401"/>
            <a:chExt cx="11897959" cy="612775"/>
          </a:xfrm>
          <a:solidFill>
            <a:schemeClr val="accent1"/>
          </a:solidFill>
        </p:grpSpPr>
        <p:sp>
          <p:nvSpPr>
            <p:cNvPr id="13" name="Rechteck 12"/>
            <p:cNvSpPr/>
            <p:nvPr userDrawn="1"/>
          </p:nvSpPr>
          <p:spPr>
            <a:xfrm>
              <a:off x="144463" y="152401"/>
              <a:ext cx="11896725" cy="47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  <p:sp>
          <p:nvSpPr>
            <p:cNvPr id="14" name="Rechteck 13"/>
            <p:cNvSpPr/>
            <p:nvPr userDrawn="1"/>
          </p:nvSpPr>
          <p:spPr>
            <a:xfrm>
              <a:off x="144463" y="597695"/>
              <a:ext cx="186361" cy="1674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11855222" y="597694"/>
              <a:ext cx="187200" cy="1674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3977" y="620714"/>
            <a:ext cx="11542458" cy="465726"/>
          </a:xfrm>
          <a:solidFill>
            <a:schemeClr val="bg1"/>
          </a:solidFill>
          <a:ln>
            <a:noFill/>
          </a:ln>
        </p:spPr>
        <p:txBody>
          <a:bodyPr lIns="151200" tIns="90000" anchor="t" anchorCtr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pic>
        <p:nvPicPr>
          <p:cNvPr id="9" name="Bild 18" descr="g_eth_logo_kurz_neg_Schutzraum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27" y="306000"/>
            <a:ext cx="971440" cy="158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3976" y="6957490"/>
            <a:ext cx="849961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>
                <a:solidFill>
                  <a:prstClr val="black"/>
                </a:solidFill>
              </a:rPr>
              <a:t>Change picture: Select picture – right click – change picture</a:t>
            </a:r>
          </a:p>
        </p:txBody>
      </p:sp>
      <p:grpSp>
        <p:nvGrpSpPr>
          <p:cNvPr id="12" name="Gruppieren 11"/>
          <p:cNvGrpSpPr/>
          <p:nvPr userDrawn="1"/>
        </p:nvGrpSpPr>
        <p:grpSpPr>
          <a:xfrm>
            <a:off x="-377822" y="-385093"/>
            <a:ext cx="12423716" cy="7159750"/>
            <a:chOff x="-377675" y="-385093"/>
            <a:chExt cx="12418863" cy="7159750"/>
          </a:xfrm>
        </p:grpSpPr>
        <p:cxnSp>
          <p:nvCxnSpPr>
            <p:cNvPr id="16" name="Gerade Verbindung 15"/>
            <p:cNvCxnSpPr/>
            <p:nvPr/>
          </p:nvCxnSpPr>
          <p:spPr>
            <a:xfrm rot="5400000">
              <a:off x="190800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6"/>
            <p:cNvCxnSpPr/>
            <p:nvPr/>
          </p:nvCxnSpPr>
          <p:spPr>
            <a:xfrm rot="5400000">
              <a:off x="1172813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 userDrawn="1"/>
          </p:nvCxnSpPr>
          <p:spPr>
            <a:xfrm>
              <a:off x="-377675" y="3427045"/>
              <a:ext cx="262289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Gerade Verbindung 18"/>
            <p:cNvCxnSpPr/>
            <p:nvPr userDrawn="1"/>
          </p:nvCxnSpPr>
          <p:spPr>
            <a:xfrm>
              <a:off x="-377675" y="762794"/>
              <a:ext cx="262800" cy="128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Gerade Verbindung 19"/>
            <p:cNvCxnSpPr/>
            <p:nvPr userDrawn="1"/>
          </p:nvCxnSpPr>
          <p:spPr>
            <a:xfrm>
              <a:off x="-377675" y="6304951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Gerade Verbindung 20"/>
            <p:cNvCxnSpPr/>
            <p:nvPr userDrawn="1"/>
          </p:nvCxnSpPr>
          <p:spPr>
            <a:xfrm>
              <a:off x="-377675" y="6237242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Gerade Verbindung 21"/>
            <p:cNvCxnSpPr/>
            <p:nvPr userDrawn="1"/>
          </p:nvCxnSpPr>
          <p:spPr>
            <a:xfrm>
              <a:off x="-377675" y="6774657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Gerade Verbindung 22"/>
            <p:cNvCxnSpPr/>
            <p:nvPr/>
          </p:nvCxnSpPr>
          <p:spPr>
            <a:xfrm rot="5400000">
              <a:off x="596352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 userDrawn="1"/>
          </p:nvCxnSpPr>
          <p:spPr>
            <a:xfrm>
              <a:off x="-377675" y="619432"/>
              <a:ext cx="262800" cy="128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/>
            <p:nvPr userDrawn="1"/>
          </p:nvCxnSpPr>
          <p:spPr>
            <a:xfrm>
              <a:off x="-377675" y="2020566"/>
              <a:ext cx="262289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Gerade Verbindung 25"/>
            <p:cNvCxnSpPr/>
            <p:nvPr userDrawn="1"/>
          </p:nvCxnSpPr>
          <p:spPr>
            <a:xfrm>
              <a:off x="-377675" y="4831557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Gerade Verbindung 26"/>
            <p:cNvCxnSpPr/>
            <p:nvPr userDrawn="1"/>
          </p:nvCxnSpPr>
          <p:spPr>
            <a:xfrm rot="5400000">
              <a:off x="1095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27"/>
            <p:cNvCxnSpPr/>
            <p:nvPr userDrawn="1"/>
          </p:nvCxnSpPr>
          <p:spPr>
            <a:xfrm rot="5400000">
              <a:off x="11909273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49877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3977" y="2024064"/>
            <a:ext cx="11542458" cy="421004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 err="1"/>
              <a:t>Erste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323977" y="620714"/>
            <a:ext cx="11542458" cy="972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prstClr val="black"/>
                </a:solidFill>
              </a:rPr>
              <a:t>BIOTS 2018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8395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3978" y="2024065"/>
            <a:ext cx="5579823" cy="4213225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13" indent="-177800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Erste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88022" y="2024065"/>
            <a:ext cx="5569380" cy="4213225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Erste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>
          <a:xfrm>
            <a:off x="323977" y="620714"/>
            <a:ext cx="11542458" cy="972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3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prstClr val="black"/>
                </a:solidFill>
              </a:rPr>
              <a:t>BIOTS 2018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145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Frei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23977" y="620714"/>
            <a:ext cx="11542458" cy="97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Add title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prstClr val="black"/>
                </a:solidFill>
              </a:rPr>
              <a:t>BIOTS 2018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55974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 hasCustomPrompt="1"/>
          </p:nvPr>
        </p:nvSpPr>
        <p:spPr>
          <a:xfrm>
            <a:off x="323977" y="620713"/>
            <a:ext cx="11542458" cy="560786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a picture by dragging it onto the icon or by clicking on the icon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prstClr val="black"/>
                </a:solidFill>
              </a:rPr>
              <a:t>BIOTS 2018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4016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ohne Bal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 bwMode="gray">
          <a:xfrm>
            <a:off x="0" y="0"/>
            <a:ext cx="12192000" cy="876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dirty="0">
              <a:solidFill>
                <a:prstClr val="white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9" name="Bild 8" descr="eth_logo_kurz_pos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27" y="306000"/>
            <a:ext cx="967356" cy="157734"/>
          </a:xfrm>
          <a:prstGeom prst="rect">
            <a:avLst/>
          </a:prstGeom>
        </p:spPr>
      </p:pic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prstClr val="black"/>
                </a:solidFill>
              </a:rPr>
              <a:t>BIOTS 2018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244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/>
        </p:nvGrpSpPr>
        <p:grpSpPr>
          <a:xfrm>
            <a:off x="-377822" y="-385093"/>
            <a:ext cx="12423716" cy="7159750"/>
            <a:chOff x="-377675" y="-385093"/>
            <a:chExt cx="12418863" cy="7159750"/>
          </a:xfrm>
        </p:grpSpPr>
        <p:cxnSp>
          <p:nvCxnSpPr>
            <p:cNvPr id="19" name="Gerade Verbindung 18"/>
            <p:cNvCxnSpPr/>
            <p:nvPr/>
          </p:nvCxnSpPr>
          <p:spPr>
            <a:xfrm rot="5400000">
              <a:off x="190800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/>
            <p:cNvCxnSpPr/>
            <p:nvPr/>
          </p:nvCxnSpPr>
          <p:spPr>
            <a:xfrm rot="5400000">
              <a:off x="1172813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 userDrawn="1"/>
          </p:nvCxnSpPr>
          <p:spPr>
            <a:xfrm>
              <a:off x="-377675" y="3427045"/>
              <a:ext cx="262289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/>
            <p:nvPr userDrawn="1"/>
          </p:nvCxnSpPr>
          <p:spPr>
            <a:xfrm>
              <a:off x="-377675" y="762794"/>
              <a:ext cx="262800" cy="128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Gerade Verbindung 25"/>
            <p:cNvCxnSpPr/>
            <p:nvPr userDrawn="1"/>
          </p:nvCxnSpPr>
          <p:spPr>
            <a:xfrm>
              <a:off x="-377675" y="6304951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Gerade Verbindung 27"/>
            <p:cNvCxnSpPr/>
            <p:nvPr userDrawn="1"/>
          </p:nvCxnSpPr>
          <p:spPr>
            <a:xfrm>
              <a:off x="-377675" y="6237242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Gerade Verbindung 28"/>
            <p:cNvCxnSpPr/>
            <p:nvPr userDrawn="1"/>
          </p:nvCxnSpPr>
          <p:spPr>
            <a:xfrm>
              <a:off x="-377675" y="6774657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 rot="5400000">
              <a:off x="596352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30"/>
            <p:cNvCxnSpPr/>
            <p:nvPr userDrawn="1"/>
          </p:nvCxnSpPr>
          <p:spPr>
            <a:xfrm>
              <a:off x="-377675" y="619432"/>
              <a:ext cx="262800" cy="128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Gerade Verbindung 31"/>
            <p:cNvCxnSpPr/>
            <p:nvPr userDrawn="1"/>
          </p:nvCxnSpPr>
          <p:spPr>
            <a:xfrm>
              <a:off x="-377675" y="2020566"/>
              <a:ext cx="262289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Gerade Verbindung 32"/>
            <p:cNvCxnSpPr/>
            <p:nvPr userDrawn="1"/>
          </p:nvCxnSpPr>
          <p:spPr>
            <a:xfrm>
              <a:off x="-377675" y="4831557"/>
              <a:ext cx="262800" cy="0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Gerade Verbindung 33"/>
            <p:cNvCxnSpPr/>
            <p:nvPr userDrawn="1"/>
          </p:nvCxnSpPr>
          <p:spPr>
            <a:xfrm rot="5400000">
              <a:off x="10959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4"/>
            <p:cNvCxnSpPr/>
            <p:nvPr userDrawn="1"/>
          </p:nvCxnSpPr>
          <p:spPr>
            <a:xfrm rot="5400000">
              <a:off x="11909273" y="-254209"/>
              <a:ext cx="262800" cy="1031"/>
            </a:xfrm>
            <a:prstGeom prst="line">
              <a:avLst/>
            </a:prstGeom>
            <a:ln w="63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/>
          <p:cNvGrpSpPr/>
          <p:nvPr/>
        </p:nvGrpSpPr>
        <p:grpSpPr>
          <a:xfrm>
            <a:off x="144520" y="152402"/>
            <a:ext cx="11902608" cy="612775"/>
            <a:chOff x="144463" y="152401"/>
            <a:chExt cx="11897959" cy="612775"/>
          </a:xfrm>
          <a:solidFill>
            <a:schemeClr val="accent1"/>
          </a:solidFill>
        </p:grpSpPr>
        <p:sp>
          <p:nvSpPr>
            <p:cNvPr id="22" name="Rechteck 21"/>
            <p:cNvSpPr/>
            <p:nvPr userDrawn="1"/>
          </p:nvSpPr>
          <p:spPr>
            <a:xfrm>
              <a:off x="144463" y="152401"/>
              <a:ext cx="11896725" cy="471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  <p:sp>
          <p:nvSpPr>
            <p:cNvPr id="23" name="Rechteck 22"/>
            <p:cNvSpPr/>
            <p:nvPr userDrawn="1"/>
          </p:nvSpPr>
          <p:spPr>
            <a:xfrm>
              <a:off x="144463" y="597695"/>
              <a:ext cx="186361" cy="1674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  <p:sp>
          <p:nvSpPr>
            <p:cNvPr id="27" name="Rechteck 26"/>
            <p:cNvSpPr/>
            <p:nvPr userDrawn="1"/>
          </p:nvSpPr>
          <p:spPr>
            <a:xfrm>
              <a:off x="11855222" y="597694"/>
              <a:ext cx="187200" cy="1674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>
                <a:solidFill>
                  <a:prstClr val="white"/>
                </a:solidFill>
              </a:endParaRPr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prstClr val="black"/>
                </a:solidFill>
              </a:rPr>
              <a:t>16.02.2018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795" y="6308726"/>
            <a:ext cx="4633693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>
                <a:solidFill>
                  <a:prstClr val="black"/>
                </a:solidFill>
              </a:rPr>
              <a:t>BIOTS 2018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629448" y="6308726"/>
            <a:ext cx="355600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6C6AE60A-B69C-4790-82F7-3882EDF23186}" type="slidenum">
              <a:rPr lang="en-GB" smtClean="0">
                <a:solidFill>
                  <a:prstClr val="black"/>
                </a:solidFill>
              </a:rPr>
              <a:pPr/>
              <a:t>‹Nr.›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23977" y="2024064"/>
            <a:ext cx="11533424" cy="4213224"/>
          </a:xfrm>
          <a:prstGeom prst="rect">
            <a:avLst/>
          </a:prstGeom>
        </p:spPr>
        <p:txBody>
          <a:bodyPr vert="horz" lIns="140400" tIns="0" rIns="144000" bIns="0" rtlCol="0">
            <a:noAutofit/>
          </a:bodyPr>
          <a:lstStyle/>
          <a:p>
            <a:pPr lvl="0"/>
            <a:r>
              <a:rPr lang="en-GB" dirty="0" err="1"/>
              <a:t>Erste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16" name="Textfeld 15"/>
          <p:cNvSpPr txBox="1"/>
          <p:nvPr/>
        </p:nvSpPr>
        <p:spPr>
          <a:xfrm>
            <a:off x="11540778" y="6300190"/>
            <a:ext cx="141277" cy="468312"/>
          </a:xfrm>
          <a:prstGeom prst="rect">
            <a:avLst/>
          </a:prstGeom>
          <a:noFill/>
        </p:spPr>
        <p:txBody>
          <a:bodyPr wrap="none" lIns="36000" rIns="36000" rtlCol="0" anchor="ctr" anchorCtr="0">
            <a:noAutofit/>
          </a:bodyPr>
          <a:lstStyle/>
          <a:p>
            <a:pPr algn="ctr"/>
            <a:r>
              <a:rPr lang="en-GB" sz="800" dirty="0">
                <a:solidFill>
                  <a:prstClr val="black"/>
                </a:solidFill>
              </a:rPr>
              <a:t>|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0783289" y="6300189"/>
            <a:ext cx="141277" cy="468312"/>
          </a:xfrm>
          <a:prstGeom prst="rect">
            <a:avLst/>
          </a:prstGeom>
          <a:noFill/>
        </p:spPr>
        <p:txBody>
          <a:bodyPr wrap="none" lIns="36000" rIns="36000" rtlCol="0" anchor="ctr" anchorCtr="0">
            <a:noAutofit/>
          </a:bodyPr>
          <a:lstStyle/>
          <a:p>
            <a:pPr algn="ctr"/>
            <a:r>
              <a:rPr lang="en-GB" sz="800" dirty="0">
                <a:solidFill>
                  <a:prstClr val="black"/>
                </a:solidFill>
              </a:rPr>
              <a:t>|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23976" y="620714"/>
            <a:ext cx="11533425" cy="972000"/>
          </a:xfrm>
          <a:prstGeom prst="rect">
            <a:avLst/>
          </a:prstGeom>
          <a:solidFill>
            <a:schemeClr val="bg1"/>
          </a:solidFill>
        </p:spPr>
        <p:txBody>
          <a:bodyPr vert="horz" lIns="144000" tIns="54000" rIns="144000" bIns="0" rtlCol="0" anchor="t" anchorCtr="0">
            <a:no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323977" y="6308727"/>
            <a:ext cx="5772023" cy="459774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endParaRPr lang="en-GB" sz="800" dirty="0">
              <a:solidFill>
                <a:prstClr val="black"/>
              </a:solidFill>
            </a:endParaRPr>
          </a:p>
        </p:txBody>
      </p:sp>
      <p:pic>
        <p:nvPicPr>
          <p:cNvPr id="17" name="Bild 18" descr="g_eth_logo_kurz_neg_Schutzraum.eps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27" y="306000"/>
            <a:ext cx="971440" cy="1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5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fade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65113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93763" indent="-26670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17780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2063" indent="-18415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92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1275">
          <p15:clr>
            <a:srgbClr val="F26B43"/>
          </p15:clr>
        </p15:guide>
        <p15:guide id="4" orient="horz" pos="391">
          <p15:clr>
            <a:srgbClr val="F26B43"/>
          </p15:clr>
        </p15:guide>
        <p15:guide id="5" orient="horz" pos="3045">
          <p15:clr>
            <a:srgbClr val="F26B43"/>
          </p15:clr>
        </p15:guide>
        <p15:guide id="6" orient="horz" pos="3929">
          <p15:clr>
            <a:srgbClr val="F26B43"/>
          </p15:clr>
        </p15:guide>
        <p15:guide id="7" pos="204">
          <p15:clr>
            <a:srgbClr val="F26B43"/>
          </p15:clr>
        </p15:guide>
        <p15:guide id="8" pos="7467">
          <p15:clr>
            <a:srgbClr val="F26B43"/>
          </p15:clr>
        </p15:guide>
        <p15:guide id="9" pos="7581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2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360C260A-5084-43E5-89E3-AAD26A03F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977" y="4563876"/>
            <a:ext cx="11542457" cy="1673412"/>
          </a:xfrm>
        </p:spPr>
        <p:txBody>
          <a:bodyPr/>
          <a:lstStyle/>
          <a:p>
            <a:pPr algn="ctr"/>
            <a:r>
              <a:rPr lang="de-DE" dirty="0" err="1"/>
              <a:t>Based</a:t>
            </a:r>
            <a:r>
              <a:rPr lang="de-DE" dirty="0"/>
              <a:t> on: B. A. Prakash, D. </a:t>
            </a:r>
            <a:r>
              <a:rPr lang="de-DE" dirty="0" err="1"/>
              <a:t>Chakrabarti</a:t>
            </a:r>
            <a:r>
              <a:rPr lang="de-DE" dirty="0"/>
              <a:t>, N. </a:t>
            </a:r>
            <a:r>
              <a:rPr lang="de-DE" dirty="0" err="1"/>
              <a:t>Valler</a:t>
            </a:r>
            <a:r>
              <a:rPr lang="de-DE" dirty="0"/>
              <a:t>, M. </a:t>
            </a:r>
            <a:r>
              <a:rPr lang="de-DE" dirty="0" err="1"/>
              <a:t>Faloutsos</a:t>
            </a:r>
            <a:r>
              <a:rPr lang="de-DE" dirty="0"/>
              <a:t>, </a:t>
            </a:r>
            <a:r>
              <a:rPr lang="en-US" dirty="0"/>
              <a:t>C. </a:t>
            </a:r>
            <a:r>
              <a:rPr lang="en-US" dirty="0" err="1"/>
              <a:t>Faloutsos</a:t>
            </a:r>
            <a:r>
              <a:rPr lang="en-US" dirty="0"/>
              <a:t>. Threshold conditions for arbitrary cascade models on arbitrary networks.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D06C72-7CA9-4862-851F-EC7C2956F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dirty="0"/>
              <a:t>Modeling and </a:t>
            </a:r>
            <a:r>
              <a:rPr lang="de-DE" dirty="0" err="1"/>
              <a:t>Simulating</a:t>
            </a:r>
            <a:r>
              <a:rPr lang="de-DE" dirty="0"/>
              <a:t> </a:t>
            </a:r>
            <a:r>
              <a:rPr lang="de-DE" dirty="0" err="1"/>
              <a:t>Disease</a:t>
            </a:r>
            <a:r>
              <a:rPr lang="de-DE" dirty="0"/>
              <a:t> Outbreaks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Arbitrary</a:t>
            </a:r>
            <a:r>
              <a:rPr lang="de-DE" dirty="0"/>
              <a:t> </a:t>
            </a:r>
            <a:r>
              <a:rPr lang="de-DE" dirty="0" err="1"/>
              <a:t>Topological</a:t>
            </a:r>
            <a:r>
              <a:rPr lang="de-DE" dirty="0"/>
              <a:t> Systems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F98876C-864A-457C-8C2E-71F11C373D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BD92C9D-3E76-47ED-A0C8-E50CFB3A8191}"/>
              </a:ext>
            </a:extLst>
          </p:cNvPr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B1E83422-12A5-4793-9265-616436E5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9448" y="6308726"/>
            <a:ext cx="355600" cy="468312"/>
          </a:xfrm>
        </p:spPr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1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E5D3C2BA-C531-44D6-A74B-4D8F86C68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20777" y="6308726"/>
            <a:ext cx="612239" cy="468312"/>
          </a:xfrm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9228B4F4-2496-4593-A8FA-E5E2FC077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pic>
        <p:nvPicPr>
          <p:cNvPr id="9" name="Bildplatzhalter 14">
            <a:extLst>
              <a:ext uri="{FF2B5EF4-FFF2-40B4-BE49-F238E27FC236}">
                <a16:creationId xmlns:a16="http://schemas.microsoft.com/office/drawing/2014/main" id="{505320A5-34B2-4EE7-80E8-5CA7B5DB6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" r="30"/>
          <a:stretch>
            <a:fillRect/>
          </a:stretch>
        </p:blipFill>
        <p:spPr>
          <a:xfrm>
            <a:off x="323850" y="619200"/>
            <a:ext cx="11537950" cy="28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292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>
              <a:xfrm>
                <a:off x="327819" y="1582647"/>
                <a:ext cx="11537950" cy="3979954"/>
              </a:xfrm>
            </p:spPr>
            <p:txBody>
              <a:bodyPr/>
              <a:lstStyle/>
              <a:p>
                <a:r>
                  <a:rPr lang="en-US" dirty="0"/>
                  <a:t>We shall consider the effects of topology and virus propagation model (VPM) when analyzing virus outbreaks</a:t>
                </a:r>
              </a:p>
              <a:p>
                <a:r>
                  <a:rPr lang="en-US" dirty="0"/>
                  <a:t>The topology shall be given by a connectivity matrix</a:t>
                </a:r>
              </a:p>
              <a:p>
                <a:r>
                  <a:rPr lang="en-US" dirty="0"/>
                  <a:t>It turns out that the topological effects can be decoupled from the VPM</a:t>
                </a:r>
              </a:p>
              <a:p>
                <a:r>
                  <a:rPr lang="en-US" dirty="0"/>
                  <a:t>We can define the effective strength: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epidemic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819" y="1582647"/>
                <a:ext cx="11537950" cy="3979954"/>
              </a:xfrm>
              <a:blipFill>
                <a:blip r:embed="rId3"/>
                <a:stretch>
                  <a:fillRect l="-317" t="-22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2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Underlying Theory Behind Our Project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7329C9-52BB-4C84-9611-9A8FD92F1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19" y="3666286"/>
            <a:ext cx="4271574" cy="10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5948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r>
              <a:rPr lang="en-US" dirty="0"/>
              <a:t>We start out with our general model: S*I</a:t>
            </a:r>
            <a:r>
              <a:rPr lang="en-US" baseline="30000" dirty="0"/>
              <a:t>2</a:t>
            </a:r>
            <a:r>
              <a:rPr lang="en-US" dirty="0"/>
              <a:t>V*</a:t>
            </a:r>
          </a:p>
          <a:p>
            <a:pPr marL="722313" lvl="1" indent="-457200">
              <a:buFont typeface="+mj-lt"/>
              <a:buAutoNum type="arabicPeriod"/>
            </a:pPr>
            <a:r>
              <a:rPr lang="en-US" dirty="0"/>
              <a:t>Susceptible Class: Contains all of the susceptible states.  All nodes that are elements of this class can be infected by neighbors.  </a:t>
            </a:r>
          </a:p>
          <a:p>
            <a:pPr marL="722313" lvl="1" indent="-457200">
              <a:buFont typeface="+mj-lt"/>
              <a:buAutoNum type="arabicPeriod"/>
            </a:pPr>
            <a:r>
              <a:rPr lang="en-US" dirty="0"/>
              <a:t>Infected Class: Contains two infected states (E,I).  All nodes that are elements of this class are infected.</a:t>
            </a:r>
          </a:p>
          <a:p>
            <a:pPr marL="722313" lvl="1" indent="-457200">
              <a:buFont typeface="+mj-lt"/>
              <a:buAutoNum type="arabicPeriod"/>
            </a:pPr>
            <a:r>
              <a:rPr lang="en-US" dirty="0"/>
              <a:t>Vigilant Class: Contains all of the vigilant states.  All nodes that are elements of this class cannot be infected or cause infections.</a:t>
            </a:r>
          </a:p>
          <a:p>
            <a:r>
              <a:rPr lang="en-US" dirty="0"/>
              <a:t>Two Assumptions:</a:t>
            </a:r>
          </a:p>
          <a:p>
            <a:pPr marL="722313" lvl="1" indent="-457200">
              <a:buFont typeface="+mj-lt"/>
              <a:buAutoNum type="arabicPeriod"/>
            </a:pPr>
            <a:r>
              <a:rPr lang="en-US" dirty="0"/>
              <a:t>Infections can only be spread through neighboring nodes</a:t>
            </a:r>
          </a:p>
          <a:p>
            <a:pPr marL="722313" lvl="1" indent="-457200">
              <a:buFont typeface="+mj-lt"/>
              <a:buAutoNum type="arabicPeriod"/>
            </a:pPr>
            <a:r>
              <a:rPr lang="en-US" dirty="0"/>
              <a:t>There exists a “starting infected class”</a:t>
            </a:r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3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23977" y="620714"/>
            <a:ext cx="11542458" cy="972000"/>
          </a:xfrm>
        </p:spPr>
        <p:txBody>
          <a:bodyPr/>
          <a:lstStyle/>
          <a:p>
            <a:r>
              <a:rPr lang="en-US" dirty="0"/>
              <a:t>Proof Overview: Initial Conditions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420577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r>
              <a:rPr lang="en-US" dirty="0"/>
              <a:t>We can define a vector that completely describes our state at time t.  </a:t>
            </a:r>
          </a:p>
          <a:p>
            <a:r>
              <a:rPr lang="en-US" dirty="0"/>
              <a:t>We shall then analyze the fixed points where no node is an infected state</a:t>
            </a:r>
          </a:p>
          <a:p>
            <a:r>
              <a:rPr lang="en-US" dirty="0"/>
              <a:t>If this fixed point is stable for small perturbations, we know that it shall not come to an epidemic</a:t>
            </a:r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4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Overview: Outline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21493703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>
              <a:xfrm>
                <a:off x="327819" y="1582647"/>
                <a:ext cx="11537950" cy="3979954"/>
              </a:xfrm>
            </p:spPr>
            <p:txBody>
              <a:bodyPr/>
              <a:lstStyle/>
              <a:p>
                <a:r>
                  <a:rPr lang="en-GB" dirty="0"/>
                  <a:t>Reproduce the results of the paper (for the SIR model,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den>
                    </m:f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Push the model towards its boundaries</a:t>
                </a:r>
              </a:p>
              <a:p>
                <a:pPr marL="819150" lvl="1" indent="-457200">
                  <a:buFont typeface="+mj-lt"/>
                  <a:buAutoNum type="arabicPeriod"/>
                </a:pPr>
                <a:r>
                  <a:rPr lang="en-GB" b="0" dirty="0"/>
                  <a:t>Is the model still applicable for many/important initially infected nodes?</a:t>
                </a:r>
                <a:endParaRPr lang="en-GB" dirty="0"/>
              </a:p>
              <a:p>
                <a:pPr marL="819150" lvl="1" indent="-457200">
                  <a:buFont typeface="+mj-lt"/>
                  <a:buAutoNum type="arabicPeriod"/>
                </a:pPr>
                <a:r>
                  <a:rPr lang="en-GB" b="0" dirty="0"/>
                  <a:t>Is the model still applicable for small network</a:t>
                </a:r>
                <a:r>
                  <a:rPr lang="en-GB" dirty="0"/>
                  <a:t>s?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819" y="1582647"/>
                <a:ext cx="11537950" cy="3979954"/>
              </a:xfrm>
              <a:blipFill>
                <a:blip r:embed="rId3"/>
                <a:stretch>
                  <a:fillRect l="-317" t="-1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5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 of Our Project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357114621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>
              <a:xfrm>
                <a:off x="327819" y="1582647"/>
                <a:ext cx="11537950" cy="4545198"/>
              </a:xfrm>
            </p:spPr>
            <p:txBody>
              <a:bodyPr/>
              <a:lstStyle/>
              <a:p>
                <a:r>
                  <a:rPr lang="en-GB" dirty="0"/>
                  <a:t>Two possible events of the SIR model:</a:t>
                </a:r>
              </a:p>
              <a:p>
                <a:pPr lvl="1"/>
                <a:r>
                  <a:rPr lang="en-GB" dirty="0"/>
                  <a:t>An infected node infects a susceptible neighbour (with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>
                        <a:latin typeface="Cambria Math" panose="02040503050406030204" pitchFamily="18" charset="0"/>
                      </a:rPr>
                      <m:t>β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An infected node gets recovered (with probability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Probability, that exactly one events happens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</m:oMath>
                </a14:m>
                <a:r>
                  <a:rPr lang="en-GB" dirty="0"/>
                  <a:t>:</a:t>
                </a:r>
              </a:p>
              <a:p>
                <a:pPr marL="3619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𝑖𝑛𝑓𝑒𝑐𝑡𝑖𝑜𝑛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𝑟𝑒𝑐𝑜𝑣𝑒𝑟𝑦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𝑟𝑖𝑠𝑘</m:t>
                              </m:r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𝑛𝑜𝑑𝑒𝑠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𝑖𝑛𝑓𝑒𝑐𝑡𝑒𝑑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𝑛𝑒𝑖𝑔h𝑏𝑜𝑢𝑟𝑠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𝑟𝑒𝑐𝑜𝑣𝑒𝑟𝑦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𝑖𝑛𝑓𝑒𝑐𝑡𝑒𝑑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𝑛𝑜𝑑𝑒𝑠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r>
                  <a:rPr lang="en-GB" b="0" dirty="0"/>
                  <a:t>Naive implementation: Create a random number at each time step and check whether an event will happen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b="0" dirty="0"/>
                  <a:t> Increasing computational intensity with decreasing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b="0" dirty="0"/>
                  <a:t> </a:t>
                </a:r>
              </a:p>
              <a:p>
                <a:pPr marL="361950" lvl="1" indent="0">
                  <a:buNone/>
                </a:pPr>
                <a:endParaRPr lang="en-GB" dirty="0"/>
              </a:p>
              <a:p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819" y="1582647"/>
                <a:ext cx="11537950" cy="4545198"/>
              </a:xfrm>
              <a:blipFill rotWithShape="0">
                <a:blip r:embed="rId3"/>
                <a:stretch>
                  <a:fillRect l="-317" t="-20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C36F-9C70-466C-AB8B-D7DB7D8FC594}" type="slidenum">
              <a:rPr lang="en-GB" dirty="0">
                <a:solidFill>
                  <a:prstClr val="black"/>
                </a:solidFill>
              </a:rPr>
              <a:t>6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Simulating the Time Evolution of the SIR Model on Arbitrary Networks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using the Gillespie Algorithm 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227410040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idx="1"/>
              </p:nvPr>
            </p:nvSpPr>
            <p:spPr>
              <a:xfrm>
                <a:off x="327819" y="1582647"/>
                <a:ext cx="11537950" cy="4545198"/>
              </a:xfrm>
            </p:spPr>
            <p:txBody>
              <a:bodyPr/>
              <a:lstStyle/>
              <a:p>
                <a:r>
                  <a:rPr lang="en-GB" dirty="0"/>
                  <a:t>Approach: Calculate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b="0" dirty="0"/>
                  <a:t> at which the next event will happen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b="0" dirty="0"/>
                  <a:t> Probability that the next event will happen </a:t>
                </a:r>
                <a:br>
                  <a:rPr lang="en-GB" b="0" dirty="0"/>
                </a:br>
                <a:r>
                  <a:rPr lang="en-GB" b="0" dirty="0"/>
                  <a:t>during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It can be shown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𝑟𝑎𝑡𝑒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𝑑𝑠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𝑟𝑎𝑡𝑒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b="0" dirty="0"/>
                  <a:t> is exponentially distributed with rate parameter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0" dirty="0"/>
              </a:p>
              <a:p>
                <a:pPr marL="361950" lvl="1" indent="0">
                  <a:buNone/>
                </a:pPr>
                <a:endParaRPr lang="en-GB" dirty="0"/>
              </a:p>
              <a:p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819" y="1582647"/>
                <a:ext cx="11537950" cy="4545198"/>
              </a:xfrm>
              <a:blipFill rotWithShape="0">
                <a:blip r:embed="rId3"/>
                <a:stretch>
                  <a:fillRect l="-317" t="-20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E54E-846D-4097-B3B9-9806B6B5BCA2}" type="slidenum">
              <a:rPr lang="en-GB" smtClean="0">
                <a:solidFill>
                  <a:prstClr val="black"/>
                </a:solidFill>
              </a:rPr>
              <a:t>7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Simulating the Time Evolution of the SIR Model on Arbitrary Networks </a:t>
            </a:r>
            <a:r>
              <a:rPr lang="en-GB" dirty="0"/>
              <a:t>using the Gillespie Algorithm 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16226368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Pseudocode of the Gillespie Algorithm</a:t>
            </a:r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33" y="1271880"/>
            <a:ext cx="5231512" cy="5231512"/>
          </a:xfrm>
          <a:prstGeom prst="rect">
            <a:avLst/>
          </a:prstGeom>
        </p:spPr>
      </p:pic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1950" lvl="1" indent="0">
              <a:buNone/>
            </a:pPr>
            <a:endParaRPr lang="en-GB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2A748-A57F-4E7F-851C-46C6E5575C9C}" type="slidenum">
              <a:rPr lang="en-GB" smtClean="0">
                <a:solidFill>
                  <a:prstClr val="black"/>
                </a:solidFill>
              </a:rPr>
              <a:t>8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cxnSp>
        <p:nvCxnSpPr>
          <p:cNvPr id="12" name="Gerader Verbinder 11"/>
          <p:cNvCxnSpPr/>
          <p:nvPr/>
        </p:nvCxnSpPr>
        <p:spPr>
          <a:xfrm flipV="1">
            <a:off x="854011" y="3556897"/>
            <a:ext cx="10590663" cy="27296"/>
          </a:xfrm>
          <a:prstGeom prst="line">
            <a:avLst/>
          </a:prstGeom>
          <a:ln w="12700" cap="sq">
            <a:solidFill>
              <a:schemeClr val="tx1"/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 flipV="1">
            <a:off x="848841" y="5676049"/>
            <a:ext cx="10590663" cy="27296"/>
          </a:xfrm>
          <a:prstGeom prst="line">
            <a:avLst/>
          </a:prstGeom>
          <a:ln w="12700" cap="sq">
            <a:solidFill>
              <a:schemeClr val="tx1"/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 flipV="1">
            <a:off x="848841" y="6215372"/>
            <a:ext cx="10590663" cy="27296"/>
          </a:xfrm>
          <a:prstGeom prst="line">
            <a:avLst/>
          </a:prstGeom>
          <a:ln w="12700" cap="sq">
            <a:solidFill>
              <a:schemeClr val="tx1"/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V="1">
            <a:off x="854011" y="2186350"/>
            <a:ext cx="10590663" cy="27296"/>
          </a:xfrm>
          <a:prstGeom prst="line">
            <a:avLst/>
          </a:prstGeom>
          <a:ln w="12700" cap="sq">
            <a:solidFill>
              <a:schemeClr val="tx1"/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5729645" y="5655598"/>
            <a:ext cx="5899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Update the status of all nodes and all rates. Compute the time when the next event will happen and go to 2. 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729645" y="3589028"/>
            <a:ext cx="589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Compute which event will happen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5729645" y="2238940"/>
            <a:ext cx="5899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Initialise the status of all nodes, compute all rates and the time at which the first event will happen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98133" y="6515765"/>
            <a:ext cx="5598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Taken from “Mathematics </a:t>
            </a:r>
            <a:r>
              <a:rPr lang="en-US" sz="1200" dirty="0"/>
              <a:t>of Epidemics on Networks”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1956886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Reproduction of previous work</a:t>
            </a:r>
          </a:p>
          <a:p>
            <a:r>
              <a:rPr lang="en-GB" dirty="0"/>
              <a:t>Data set AS-OREGON (6474 nodes)</a:t>
            </a:r>
          </a:p>
          <a:p>
            <a:r>
              <a:rPr lang="en-GB" dirty="0"/>
              <a:t>10 random nodes initially infected</a:t>
            </a:r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9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 Results I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89F026-094D-4F0C-A423-EDC5DEBFC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23" y="2794888"/>
            <a:ext cx="4515534" cy="33866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2B58666-8C88-4DF0-B5DA-00E2C630E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245" y="2794888"/>
            <a:ext cx="4515533" cy="33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2929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Challenging the model with different initial infections</a:t>
            </a:r>
          </a:p>
          <a:p>
            <a:r>
              <a:rPr lang="en-GB" dirty="0"/>
              <a:t>Infection of nodes with highest eigenvector centrality (critical nodes)</a:t>
            </a:r>
          </a:p>
          <a:p>
            <a:r>
              <a:rPr lang="en-GB" dirty="0"/>
              <a:t>Infection of more nodes</a:t>
            </a:r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10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 Results II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178256F-C5BA-4CD2-B1C6-3A30A2C8E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22" y="2794888"/>
            <a:ext cx="4515533" cy="33866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9890B82-5350-4E4E-8850-BB9EF7DAD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244" y="2794888"/>
            <a:ext cx="4515533" cy="33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670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Challenging the model with a small network</a:t>
            </a:r>
          </a:p>
          <a:p>
            <a:r>
              <a:rPr lang="en-GB" dirty="0"/>
              <a:t>Data set TERRORIST (62 nodes)</a:t>
            </a:r>
          </a:p>
          <a:p>
            <a:r>
              <a:rPr lang="en-GB" dirty="0"/>
              <a:t>Infection of critical nodes (highest centrality)</a:t>
            </a:r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11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 Results III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D24690-6351-46FE-887C-1D2662C6D7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2"/>
          <a:stretch/>
        </p:blipFill>
        <p:spPr>
          <a:xfrm>
            <a:off x="3474997" y="2915830"/>
            <a:ext cx="5240418" cy="356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993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Model generally very robust</a:t>
            </a:r>
          </a:p>
          <a:p>
            <a:r>
              <a:rPr lang="en-GB" dirty="0"/>
              <a:t>Valid for larger networks regardless of initial infection</a:t>
            </a:r>
          </a:p>
          <a:p>
            <a:r>
              <a:rPr lang="en-GB" dirty="0"/>
              <a:t>Small networks push it towards its boundaries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Further research necessary</a:t>
            </a:r>
          </a:p>
          <a:p>
            <a:r>
              <a:rPr lang="en-GB" dirty="0"/>
              <a:t>We only covered the SIR model</a:t>
            </a:r>
          </a:p>
          <a:p>
            <a:r>
              <a:rPr lang="en-GB" dirty="0"/>
              <a:t>Influence of averaging</a:t>
            </a:r>
          </a:p>
          <a:p>
            <a:pPr lvl="1"/>
            <a:r>
              <a:rPr lang="en-GB" dirty="0"/>
              <a:t>Worst-case scenario more interesting for applications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12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&amp; Outlook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329521715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7819" y="1582647"/>
            <a:ext cx="11537950" cy="3979954"/>
          </a:xfrm>
        </p:spPr>
        <p:txBody>
          <a:bodyPr/>
          <a:lstStyle/>
          <a:p>
            <a:r>
              <a:rPr lang="de-DE" dirty="0"/>
              <a:t>B. A. Prakash, D. </a:t>
            </a:r>
            <a:r>
              <a:rPr lang="de-DE" dirty="0" err="1"/>
              <a:t>Chakrabarti</a:t>
            </a:r>
            <a:r>
              <a:rPr lang="de-DE" dirty="0"/>
              <a:t>, N. </a:t>
            </a:r>
            <a:r>
              <a:rPr lang="de-DE" dirty="0" err="1"/>
              <a:t>Valler</a:t>
            </a:r>
            <a:r>
              <a:rPr lang="de-DE" dirty="0"/>
              <a:t>, M. </a:t>
            </a:r>
            <a:r>
              <a:rPr lang="de-DE" dirty="0" err="1"/>
              <a:t>Faloutsos</a:t>
            </a:r>
            <a:r>
              <a:rPr lang="de-DE" dirty="0"/>
              <a:t>, </a:t>
            </a:r>
            <a:r>
              <a:rPr lang="en-US" dirty="0"/>
              <a:t>C. </a:t>
            </a:r>
            <a:r>
              <a:rPr lang="en-US" dirty="0" err="1"/>
              <a:t>Faloutsos</a:t>
            </a:r>
            <a:r>
              <a:rPr lang="en-US" dirty="0"/>
              <a:t>. Threshold conditions for arbitrary cascade models on arbitrary networks. Knowledge and Information Systems manuscript No. KAIS-12-3483R1, </a:t>
            </a:r>
            <a:r>
              <a:rPr lang="de-DE" dirty="0"/>
              <a:t>2012.</a:t>
            </a:r>
          </a:p>
          <a:p>
            <a:r>
              <a:rPr lang="en-US" dirty="0"/>
              <a:t>Istvan Z. Kiss, Joel C. Miller, Peter L. Simon. Mathematics of Epidemics on Net</a:t>
            </a:r>
            <a:r>
              <a:rPr lang="de-DE" dirty="0" err="1"/>
              <a:t>works</a:t>
            </a:r>
            <a:r>
              <a:rPr lang="de-DE" dirty="0"/>
              <a:t>, Volume 46, Page 382. Springer, Cham, 2017.</a:t>
            </a:r>
            <a:endParaRPr lang="en-GB" dirty="0"/>
          </a:p>
          <a:p>
            <a:r>
              <a:rPr lang="en-US" dirty="0"/>
              <a:t>Hirsch MW. Differential Equations, Dynamical Systems and Linear Algebra. Morris </a:t>
            </a:r>
            <a:r>
              <a:rPr lang="de-DE" dirty="0"/>
              <a:t>W. Hirsch, Stephen </a:t>
            </a:r>
            <a:r>
              <a:rPr lang="de-DE" dirty="0" err="1"/>
              <a:t>Smale</a:t>
            </a:r>
            <a:r>
              <a:rPr lang="de-DE" dirty="0"/>
              <a:t> Robert L. </a:t>
            </a:r>
            <a:r>
              <a:rPr lang="de-DE" dirty="0" err="1"/>
              <a:t>Devaney</a:t>
            </a:r>
            <a:r>
              <a:rPr lang="de-DE" dirty="0"/>
              <a:t>, Stephen </a:t>
            </a:r>
            <a:r>
              <a:rPr lang="de-DE" dirty="0" err="1"/>
              <a:t>Smale</a:t>
            </a:r>
            <a:r>
              <a:rPr lang="de-DE" dirty="0"/>
              <a:t>, 1974.</a:t>
            </a:r>
          </a:p>
          <a:p>
            <a:r>
              <a:rPr lang="en-US" dirty="0"/>
              <a:t>Radek </a:t>
            </a:r>
            <a:r>
              <a:rPr lang="en-US" dirty="0" err="1"/>
              <a:t>Erban</a:t>
            </a:r>
            <a:r>
              <a:rPr lang="en-US" dirty="0"/>
              <a:t>, S. Jonathan Chapman, Philip K. MAINI. A practical guide to stochastic simulations of reaction-diffusion processes. https://arxiv.org/pdf/0704.1908.pdf.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3" name="Fußzeilenplatzhalter 5"/>
          <p:cNvSpPr txBox="1">
            <a:spLocks/>
          </p:cNvSpPr>
          <p:nvPr/>
        </p:nvSpPr>
        <p:spPr>
          <a:xfrm>
            <a:off x="7543801" y="6308726"/>
            <a:ext cx="2476785" cy="45977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</a:rPr>
              <a:t>Severin Jäger, Thomas Hahn, Yannick Schubert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4EB61-C9EF-4080-9591-406A5CD2576E}" type="slidenum">
              <a:rPr lang="en-GB">
                <a:solidFill>
                  <a:prstClr val="black"/>
                </a:solidFill>
              </a:rPr>
              <a:t>13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Sources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18.12.2018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0210801" y="6308726"/>
            <a:ext cx="517877" cy="459776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MSSS 2018</a:t>
            </a:r>
          </a:p>
        </p:txBody>
      </p:sp>
    </p:spTree>
    <p:extLst>
      <p:ext uri="{BB962C8B-B14F-4D97-AF65-F5344CB8AC3E}">
        <p14:creationId xmlns:p14="http://schemas.microsoft.com/office/powerpoint/2010/main" val="28429242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rontiers_in_energy_research_10May2016">
  <a:themeElements>
    <a:clrScheme name="ETH 1 - Externe Kommunikatio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sq">
          <a:solidFill>
            <a:schemeClr val="tx1"/>
          </a:solidFill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TH 1 - Externe Kommunikation">
        <a:dk1>
          <a:sysClr val="windowText" lastClr="000000"/>
        </a:dk1>
        <a:lt1>
          <a:sysClr val="window" lastClr="FFFFFF"/>
        </a:lt1>
        <a:dk2>
          <a:srgbClr val="000000"/>
        </a:dk2>
        <a:lt2>
          <a:srgbClr val="FFFFFF"/>
        </a:lt2>
        <a:accent1>
          <a:srgbClr val="1F407A"/>
        </a:accent1>
        <a:accent2>
          <a:srgbClr val="435F8F"/>
        </a:accent2>
        <a:accent3>
          <a:srgbClr val="677DA5"/>
        </a:accent3>
        <a:accent4>
          <a:srgbClr val="8B9CBA"/>
        </a:accent4>
        <a:accent5>
          <a:srgbClr val="AEBACF"/>
        </a:accent5>
        <a:accent6>
          <a:srgbClr val="D2D9E4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ETH 3">
      <a:srgbClr val="1269B0"/>
    </a:custClr>
    <a:custClr name="ETH 4">
      <a:srgbClr val="72791C"/>
    </a:custClr>
    <a:custClr name="ETH 5">
      <a:srgbClr val="91056A"/>
    </a:custClr>
    <a:custClr name="ETH 6">
      <a:srgbClr val="6F6F6E"/>
    </a:custClr>
    <a:custClr name="ETH 7">
      <a:srgbClr val="A8322D"/>
    </a:custClr>
    <a:custClr name="ETH 8">
      <a:srgbClr val="007A96"/>
    </a:custClr>
    <a:custClr name="ETH 9">
      <a:srgbClr val="956013"/>
    </a:custClr>
  </a:custClrLst>
  <a:extLst>
    <a:ext uri="{05A4C25C-085E-4340-85A3-A5531E510DB2}">
      <thm15:themeFamily xmlns:thm15="http://schemas.microsoft.com/office/thememl/2012/main" name="eth_praesentation_16zu9_ETH1_d" id="{F9B539DF-8A69-4439-8089-24A40A980317}" vid="{5D9C827C-5BA7-402A-8ABB-C7F0BA4B4D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Breitbild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Frontiers_in_energy_research_10May2016</vt:lpstr>
      <vt:lpstr>Modeling and Simulating Disease Outbreaks for Arbitrary Topological Systems</vt:lpstr>
      <vt:lpstr>Underlying Theory Behind Our Project</vt:lpstr>
      <vt:lpstr>Proof Overview: Initial Conditions</vt:lpstr>
      <vt:lpstr>Proof Overview: Outline</vt:lpstr>
      <vt:lpstr>Goal of Our Project</vt:lpstr>
      <vt:lpstr>Simulating the Time Evolution of the SIR Model on Arbitrary Networks using the Gillespie Algorithm </vt:lpstr>
      <vt:lpstr>Simulating the Time Evolution of the SIR Model on Arbitrary Networks using the Gillespie Algorithm </vt:lpstr>
      <vt:lpstr>Pseudocode of the Gillespie Algorithm</vt:lpstr>
      <vt:lpstr>Simulation Results I</vt:lpstr>
      <vt:lpstr>Simulation Results II</vt:lpstr>
      <vt:lpstr>Simulation Results III</vt:lpstr>
      <vt:lpstr>Summary &amp; Outlook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Cascades &amp; Spectra</dc:title>
  <dc:creator>Yannick Schubert</dc:creator>
  <cp:lastModifiedBy>Severin</cp:lastModifiedBy>
  <cp:revision>38</cp:revision>
  <dcterms:created xsi:type="dcterms:W3CDTF">2018-10-08T05:35:02Z</dcterms:created>
  <dcterms:modified xsi:type="dcterms:W3CDTF">2018-12-17T17:57:08Z</dcterms:modified>
</cp:coreProperties>
</file>